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38404800" cy="19202400"/>
  <p:notesSz cx="6858000" cy="9144000"/>
  <p:defaultTextStyle>
    <a:defPPr>
      <a:defRPr lang="en-US"/>
    </a:defPPr>
    <a:lvl1pPr marL="0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1pPr>
    <a:lvl2pPr marL="2743013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2pPr>
    <a:lvl3pPr marL="5486025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3pPr>
    <a:lvl4pPr marL="8229038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4pPr>
    <a:lvl5pPr marL="10972051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5pPr>
    <a:lvl6pPr marL="13715064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6pPr>
    <a:lvl7pPr marL="16458077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7pPr>
    <a:lvl8pPr marL="19201089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8pPr>
    <a:lvl9pPr marL="21944102" algn="l" defTabSz="2743013" rtl="0" eaLnBrk="1" latinLnBrk="0" hangingPunct="1">
      <a:defRPr sz="10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-5602">
          <p15:clr>
            <a:srgbClr val="A4A3A4"/>
          </p15:clr>
        </p15:guide>
        <p15:guide id="2" pos="8093">
          <p15:clr>
            <a:srgbClr val="A4A3A4"/>
          </p15:clr>
        </p15:guide>
        <p15:guide id="3" pos="220">
          <p15:clr>
            <a:srgbClr val="A4A3A4"/>
          </p15:clr>
        </p15:guide>
        <p15:guide id="4" pos="8503">
          <p15:clr>
            <a:srgbClr val="A4A3A4"/>
          </p15:clr>
        </p15:guide>
        <p15:guide id="5" pos="15799">
          <p15:clr>
            <a:srgbClr val="A4A3A4"/>
          </p15:clr>
        </p15:guide>
        <p15:guide id="6" pos="16156">
          <p15:clr>
            <a:srgbClr val="A4A3A4"/>
          </p15:clr>
        </p15:guide>
        <p15:guide id="7" pos="238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0000"/>
    <a:srgbClr val="003371"/>
    <a:srgbClr val="003471"/>
    <a:srgbClr val="F1F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703" autoAdjust="0"/>
    <p:restoredTop sz="86405" autoAdjust="0"/>
  </p:normalViewPr>
  <p:slideViewPr>
    <p:cSldViewPr snapToGrid="0" showGuides="1">
      <p:cViewPr varScale="1">
        <p:scale>
          <a:sx n="34" d="100"/>
          <a:sy n="34" d="100"/>
        </p:scale>
        <p:origin x="30" y="78"/>
      </p:cViewPr>
      <p:guideLst>
        <p:guide orient="horz" pos="-5602"/>
        <p:guide pos="8093"/>
        <p:guide pos="220"/>
        <p:guide pos="8503"/>
        <p:guide pos="15799"/>
        <p:guide pos="16156"/>
        <p:guide pos="2380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D9268-3137-4537-A8E6-744BE4E2399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42900" y="1143000"/>
            <a:ext cx="61722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76E24-2339-473F-8006-C4D1D98FF4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119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/>
              <a:t>A. </a:t>
            </a:r>
            <a:r>
              <a:rPr lang="en-US" sz="1200" dirty="0"/>
              <a:t>Single childhood example </a:t>
            </a:r>
            <a:r>
              <a:rPr lang="en-US" sz="1200" b="1" dirty="0"/>
              <a:t>B. </a:t>
            </a:r>
            <a:r>
              <a:rPr lang="en-US" sz="1200" dirty="0"/>
              <a:t>High and Minimal ACE effects on Relationships for Defenders </a:t>
            </a:r>
            <a:r>
              <a:rPr lang="en-US" sz="1200" b="1" dirty="0"/>
              <a:t>C. </a:t>
            </a:r>
            <a:r>
              <a:rPr lang="en-US" sz="1200" dirty="0"/>
              <a:t>High and Minimal ACE effects on Coping Styles for Nurturers </a:t>
            </a:r>
            <a:r>
              <a:rPr lang="en-US" sz="1200" b="1" dirty="0"/>
              <a:t>D. </a:t>
            </a:r>
            <a:r>
              <a:rPr lang="en-US" sz="1200" dirty="0"/>
              <a:t>Comparison of Defenders and Nurturers with High ACE</a:t>
            </a:r>
          </a:p>
          <a:p>
            <a:pPr marL="457200" indent="-457200">
              <a:buAutoNum type="alphaUcParenBoth"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976E24-2339-473F-8006-C4D1D98FF44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766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360" y="5965192"/>
            <a:ext cx="32644080" cy="411607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60720" y="10881360"/>
            <a:ext cx="26883360" cy="490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743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4860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2290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972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37150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64580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92010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19441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3714" y="12339322"/>
            <a:ext cx="32644080" cy="3813810"/>
          </a:xfrm>
        </p:spPr>
        <p:txBody>
          <a:bodyPr anchor="t"/>
          <a:lstStyle>
            <a:lvl1pPr algn="l">
              <a:defRPr sz="2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33714" y="8138799"/>
            <a:ext cx="32644080" cy="4200524"/>
          </a:xfrm>
        </p:spPr>
        <p:txBody>
          <a:bodyPr anchor="b"/>
          <a:lstStyle>
            <a:lvl1pPr marL="0" indent="0">
              <a:buNone/>
              <a:defRPr sz="12000">
                <a:solidFill>
                  <a:schemeClr val="tx1">
                    <a:tint val="75000"/>
                  </a:schemeClr>
                </a:solidFill>
              </a:defRPr>
            </a:lvl1pPr>
            <a:lvl2pPr marL="2743013" indent="0">
              <a:buNone/>
              <a:defRPr sz="10800">
                <a:solidFill>
                  <a:schemeClr val="tx1">
                    <a:tint val="75000"/>
                  </a:schemeClr>
                </a:solidFill>
              </a:defRPr>
            </a:lvl2pPr>
            <a:lvl3pPr marL="5486025" indent="0">
              <a:buNone/>
              <a:defRPr sz="9600">
                <a:solidFill>
                  <a:schemeClr val="tx1">
                    <a:tint val="75000"/>
                  </a:schemeClr>
                </a:solidFill>
              </a:defRPr>
            </a:lvl3pPr>
            <a:lvl4pPr marL="8229038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4pPr>
            <a:lvl5pPr marL="10972051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5pPr>
            <a:lvl6pPr marL="13715064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6pPr>
            <a:lvl7pPr marL="16458077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7pPr>
            <a:lvl8pPr marL="19201089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8pPr>
            <a:lvl9pPr marL="21944102" indent="0">
              <a:buNone/>
              <a:defRPr sz="8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14488" y="25092029"/>
            <a:ext cx="82636995" cy="70964424"/>
          </a:xfrm>
        </p:spPr>
        <p:txBody>
          <a:bodyPr/>
          <a:lstStyle>
            <a:lvl1pPr>
              <a:defRPr sz="16800"/>
            </a:lvl1pPr>
            <a:lvl2pPr>
              <a:defRPr sz="14300"/>
            </a:lvl2pPr>
            <a:lvl3pPr>
              <a:defRPr sz="12000"/>
            </a:lvl3pPr>
            <a:lvl4pPr>
              <a:defRPr sz="10800"/>
            </a:lvl4pPr>
            <a:lvl5pPr>
              <a:defRPr sz="10800"/>
            </a:lvl5pPr>
            <a:lvl6pPr>
              <a:defRPr sz="10800"/>
            </a:lvl6pPr>
            <a:lvl7pPr>
              <a:defRPr sz="10800"/>
            </a:lvl7pPr>
            <a:lvl8pPr>
              <a:defRPr sz="10800"/>
            </a:lvl8pPr>
            <a:lvl9pPr>
              <a:defRPr sz="10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491563" y="25092029"/>
            <a:ext cx="82636995" cy="70964424"/>
          </a:xfrm>
        </p:spPr>
        <p:txBody>
          <a:bodyPr/>
          <a:lstStyle>
            <a:lvl1pPr>
              <a:defRPr sz="16800"/>
            </a:lvl1pPr>
            <a:lvl2pPr>
              <a:defRPr sz="14300"/>
            </a:lvl2pPr>
            <a:lvl3pPr>
              <a:defRPr sz="12000"/>
            </a:lvl3pPr>
            <a:lvl4pPr>
              <a:defRPr sz="10800"/>
            </a:lvl4pPr>
            <a:lvl5pPr>
              <a:defRPr sz="10800"/>
            </a:lvl5pPr>
            <a:lvl6pPr>
              <a:defRPr sz="10800"/>
            </a:lvl6pPr>
            <a:lvl7pPr>
              <a:defRPr sz="10800"/>
            </a:lvl7pPr>
            <a:lvl8pPr>
              <a:defRPr sz="10800"/>
            </a:lvl8pPr>
            <a:lvl9pPr>
              <a:defRPr sz="10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0" y="768987"/>
            <a:ext cx="34564320" cy="32004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4298318"/>
            <a:ext cx="16968789" cy="1791334"/>
          </a:xfrm>
        </p:spPr>
        <p:txBody>
          <a:bodyPr anchor="b"/>
          <a:lstStyle>
            <a:lvl1pPr marL="0" indent="0">
              <a:buNone/>
              <a:defRPr sz="14300" b="1"/>
            </a:lvl1pPr>
            <a:lvl2pPr marL="2743013" indent="0">
              <a:buNone/>
              <a:defRPr sz="12000" b="1"/>
            </a:lvl2pPr>
            <a:lvl3pPr marL="5486025" indent="0">
              <a:buNone/>
              <a:defRPr sz="10800" b="1"/>
            </a:lvl3pPr>
            <a:lvl4pPr marL="8229038" indent="0">
              <a:buNone/>
              <a:defRPr sz="9600" b="1"/>
            </a:lvl4pPr>
            <a:lvl5pPr marL="10972051" indent="0">
              <a:buNone/>
              <a:defRPr sz="9600" b="1"/>
            </a:lvl5pPr>
            <a:lvl6pPr marL="13715064" indent="0">
              <a:buNone/>
              <a:defRPr sz="9600" b="1"/>
            </a:lvl6pPr>
            <a:lvl7pPr marL="16458077" indent="0">
              <a:buNone/>
              <a:defRPr sz="9600" b="1"/>
            </a:lvl7pPr>
            <a:lvl8pPr marL="19201089" indent="0">
              <a:buNone/>
              <a:defRPr sz="9600" b="1"/>
            </a:lvl8pPr>
            <a:lvl9pPr marL="21944102" indent="0">
              <a:buNone/>
              <a:defRPr sz="9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6089650"/>
            <a:ext cx="16968789" cy="11063607"/>
          </a:xfrm>
        </p:spPr>
        <p:txBody>
          <a:bodyPr/>
          <a:lstStyle>
            <a:lvl1pPr>
              <a:defRPr sz="14300"/>
            </a:lvl1pPr>
            <a:lvl2pPr>
              <a:defRPr sz="12000"/>
            </a:lvl2pPr>
            <a:lvl3pPr>
              <a:defRPr sz="108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9509106" y="4298318"/>
            <a:ext cx="16975455" cy="1791334"/>
          </a:xfrm>
        </p:spPr>
        <p:txBody>
          <a:bodyPr anchor="b"/>
          <a:lstStyle>
            <a:lvl1pPr marL="0" indent="0">
              <a:buNone/>
              <a:defRPr sz="14300" b="1"/>
            </a:lvl1pPr>
            <a:lvl2pPr marL="2743013" indent="0">
              <a:buNone/>
              <a:defRPr sz="12000" b="1"/>
            </a:lvl2pPr>
            <a:lvl3pPr marL="5486025" indent="0">
              <a:buNone/>
              <a:defRPr sz="10800" b="1"/>
            </a:lvl3pPr>
            <a:lvl4pPr marL="8229038" indent="0">
              <a:buNone/>
              <a:defRPr sz="9600" b="1"/>
            </a:lvl4pPr>
            <a:lvl5pPr marL="10972051" indent="0">
              <a:buNone/>
              <a:defRPr sz="9600" b="1"/>
            </a:lvl5pPr>
            <a:lvl6pPr marL="13715064" indent="0">
              <a:buNone/>
              <a:defRPr sz="9600" b="1"/>
            </a:lvl6pPr>
            <a:lvl7pPr marL="16458077" indent="0">
              <a:buNone/>
              <a:defRPr sz="9600" b="1"/>
            </a:lvl7pPr>
            <a:lvl8pPr marL="19201089" indent="0">
              <a:buNone/>
              <a:defRPr sz="9600" b="1"/>
            </a:lvl8pPr>
            <a:lvl9pPr marL="21944102" indent="0">
              <a:buNone/>
              <a:defRPr sz="9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9509106" y="6089650"/>
            <a:ext cx="16975455" cy="11063607"/>
          </a:xfrm>
        </p:spPr>
        <p:txBody>
          <a:bodyPr/>
          <a:lstStyle>
            <a:lvl1pPr>
              <a:defRPr sz="14300"/>
            </a:lvl1pPr>
            <a:lvl2pPr>
              <a:defRPr sz="12000"/>
            </a:lvl2pPr>
            <a:lvl3pPr>
              <a:defRPr sz="10800"/>
            </a:lvl3pPr>
            <a:lvl4pPr>
              <a:defRPr sz="9600"/>
            </a:lvl4pPr>
            <a:lvl5pPr>
              <a:defRPr sz="9600"/>
            </a:lvl5pPr>
            <a:lvl6pPr>
              <a:defRPr sz="9600"/>
            </a:lvl6pPr>
            <a:lvl7pPr>
              <a:defRPr sz="9600"/>
            </a:lvl7pPr>
            <a:lvl8pPr>
              <a:defRPr sz="9600"/>
            </a:lvl8pPr>
            <a:lvl9pPr>
              <a:defRPr sz="9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0243" y="764540"/>
            <a:ext cx="12634914" cy="3253740"/>
          </a:xfrm>
        </p:spPr>
        <p:txBody>
          <a:bodyPr anchor="b"/>
          <a:lstStyle>
            <a:lvl1pPr algn="l">
              <a:defRPr sz="1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15210" y="764542"/>
            <a:ext cx="21469350" cy="16388717"/>
          </a:xfrm>
        </p:spPr>
        <p:txBody>
          <a:bodyPr/>
          <a:lstStyle>
            <a:lvl1pPr>
              <a:defRPr sz="19200"/>
            </a:lvl1pPr>
            <a:lvl2pPr>
              <a:defRPr sz="16800"/>
            </a:lvl2pPr>
            <a:lvl3pPr>
              <a:defRPr sz="14300"/>
            </a:lvl3pPr>
            <a:lvl4pPr>
              <a:defRPr sz="12000"/>
            </a:lvl4pPr>
            <a:lvl5pPr>
              <a:defRPr sz="12000"/>
            </a:lvl5pPr>
            <a:lvl6pPr>
              <a:defRPr sz="12000"/>
            </a:lvl6pPr>
            <a:lvl7pPr>
              <a:defRPr sz="12000"/>
            </a:lvl7pPr>
            <a:lvl8pPr>
              <a:defRPr sz="12000"/>
            </a:lvl8pPr>
            <a:lvl9pPr>
              <a:defRPr sz="1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20243" y="4018282"/>
            <a:ext cx="12634914" cy="13134977"/>
          </a:xfrm>
        </p:spPr>
        <p:txBody>
          <a:bodyPr/>
          <a:lstStyle>
            <a:lvl1pPr marL="0" indent="0">
              <a:buNone/>
              <a:defRPr sz="8400"/>
            </a:lvl1pPr>
            <a:lvl2pPr marL="2743013" indent="0">
              <a:buNone/>
              <a:defRPr sz="7200"/>
            </a:lvl2pPr>
            <a:lvl3pPr marL="5486025" indent="0">
              <a:buNone/>
              <a:defRPr sz="5900"/>
            </a:lvl3pPr>
            <a:lvl4pPr marL="8229038" indent="0">
              <a:buNone/>
              <a:defRPr sz="5400"/>
            </a:lvl4pPr>
            <a:lvl5pPr marL="10972051" indent="0">
              <a:buNone/>
              <a:defRPr sz="5400"/>
            </a:lvl5pPr>
            <a:lvl6pPr marL="13715064" indent="0">
              <a:buNone/>
              <a:defRPr sz="5400"/>
            </a:lvl6pPr>
            <a:lvl7pPr marL="16458077" indent="0">
              <a:buNone/>
              <a:defRPr sz="5400"/>
            </a:lvl7pPr>
            <a:lvl8pPr marL="19201089" indent="0">
              <a:buNone/>
              <a:defRPr sz="5400"/>
            </a:lvl8pPr>
            <a:lvl9pPr marL="21944102" indent="0">
              <a:buNone/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7609" y="13441680"/>
            <a:ext cx="23042880" cy="1586867"/>
          </a:xfrm>
        </p:spPr>
        <p:txBody>
          <a:bodyPr anchor="b"/>
          <a:lstStyle>
            <a:lvl1pPr algn="l">
              <a:defRPr sz="1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527609" y="1715770"/>
            <a:ext cx="23042880" cy="11521440"/>
          </a:xfrm>
        </p:spPr>
        <p:txBody>
          <a:bodyPr/>
          <a:lstStyle>
            <a:lvl1pPr marL="0" indent="0">
              <a:buNone/>
              <a:defRPr sz="19200"/>
            </a:lvl1pPr>
            <a:lvl2pPr marL="2743013" indent="0">
              <a:buNone/>
              <a:defRPr sz="16800"/>
            </a:lvl2pPr>
            <a:lvl3pPr marL="5486025" indent="0">
              <a:buNone/>
              <a:defRPr sz="14300"/>
            </a:lvl3pPr>
            <a:lvl4pPr marL="8229038" indent="0">
              <a:buNone/>
              <a:defRPr sz="12000"/>
            </a:lvl4pPr>
            <a:lvl5pPr marL="10972051" indent="0">
              <a:buNone/>
              <a:defRPr sz="12000"/>
            </a:lvl5pPr>
            <a:lvl6pPr marL="13715064" indent="0">
              <a:buNone/>
              <a:defRPr sz="12000"/>
            </a:lvl6pPr>
            <a:lvl7pPr marL="16458077" indent="0">
              <a:buNone/>
              <a:defRPr sz="12000"/>
            </a:lvl7pPr>
            <a:lvl8pPr marL="19201089" indent="0">
              <a:buNone/>
              <a:defRPr sz="12000"/>
            </a:lvl8pPr>
            <a:lvl9pPr marL="21944102" indent="0">
              <a:buNone/>
              <a:defRPr sz="1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27609" y="15028548"/>
            <a:ext cx="23042880" cy="2253614"/>
          </a:xfrm>
        </p:spPr>
        <p:txBody>
          <a:bodyPr/>
          <a:lstStyle>
            <a:lvl1pPr marL="0" indent="0">
              <a:buNone/>
              <a:defRPr sz="8400"/>
            </a:lvl1pPr>
            <a:lvl2pPr marL="2743013" indent="0">
              <a:buNone/>
              <a:defRPr sz="7200"/>
            </a:lvl2pPr>
            <a:lvl3pPr marL="5486025" indent="0">
              <a:buNone/>
              <a:defRPr sz="5900"/>
            </a:lvl3pPr>
            <a:lvl4pPr marL="8229038" indent="0">
              <a:buNone/>
              <a:defRPr sz="5400"/>
            </a:lvl4pPr>
            <a:lvl5pPr marL="10972051" indent="0">
              <a:buNone/>
              <a:defRPr sz="5400"/>
            </a:lvl5pPr>
            <a:lvl6pPr marL="13715064" indent="0">
              <a:buNone/>
              <a:defRPr sz="5400"/>
            </a:lvl6pPr>
            <a:lvl7pPr marL="16458077" indent="0">
              <a:buNone/>
              <a:defRPr sz="5400"/>
            </a:lvl7pPr>
            <a:lvl8pPr marL="19201089" indent="0">
              <a:buNone/>
              <a:defRPr sz="5400"/>
            </a:lvl8pPr>
            <a:lvl9pPr marL="21944102" indent="0">
              <a:buNone/>
              <a:defRPr sz="5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3650042" y="4307209"/>
            <a:ext cx="41478516" cy="91749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14488" y="4307209"/>
            <a:ext cx="123795474" cy="91749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768987"/>
            <a:ext cx="34564320" cy="3200400"/>
          </a:xfrm>
          <a:prstGeom prst="rect">
            <a:avLst/>
          </a:prstGeom>
        </p:spPr>
        <p:txBody>
          <a:bodyPr vert="horz" lIns="548603" tIns="274301" rIns="548603" bIns="274301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4480562"/>
            <a:ext cx="34564320" cy="12672697"/>
          </a:xfrm>
          <a:prstGeom prst="rect">
            <a:avLst/>
          </a:prstGeom>
        </p:spPr>
        <p:txBody>
          <a:bodyPr vert="horz" lIns="548603" tIns="274301" rIns="548603" bIns="27430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20240" y="17797782"/>
            <a:ext cx="8961120" cy="1022350"/>
          </a:xfrm>
          <a:prstGeom prst="rect">
            <a:avLst/>
          </a:prstGeom>
        </p:spPr>
        <p:txBody>
          <a:bodyPr vert="horz" lIns="548603" tIns="274301" rIns="548603" bIns="274301" rtlCol="0" anchor="ctr"/>
          <a:lstStyle>
            <a:lvl1pPr algn="l">
              <a:defRPr sz="7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3CF178-3452-A343-BCC4-9748B6A4CDC0}" type="datetimeFigureOut">
              <a:rPr lang="en-US" smtClean="0"/>
              <a:pPr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121640" y="17797782"/>
            <a:ext cx="12161520" cy="1022350"/>
          </a:xfrm>
          <a:prstGeom prst="rect">
            <a:avLst/>
          </a:prstGeom>
        </p:spPr>
        <p:txBody>
          <a:bodyPr vert="horz" lIns="548603" tIns="274301" rIns="548603" bIns="274301" rtlCol="0" anchor="ctr"/>
          <a:lstStyle>
            <a:lvl1pPr algn="ctr">
              <a:defRPr sz="7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7523440" y="17797782"/>
            <a:ext cx="8961120" cy="1022350"/>
          </a:xfrm>
          <a:prstGeom prst="rect">
            <a:avLst/>
          </a:prstGeom>
        </p:spPr>
        <p:txBody>
          <a:bodyPr vert="horz" lIns="548603" tIns="274301" rIns="548603" bIns="274301" rtlCol="0" anchor="ctr"/>
          <a:lstStyle>
            <a:lvl1pPr algn="r">
              <a:defRPr sz="7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DBFC0E-CCAF-0D49-A42D-2EA6C3C2400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743013" rtl="0" eaLnBrk="1" latinLnBrk="0" hangingPunct="1">
        <a:spcBef>
          <a:spcPct val="0"/>
        </a:spcBef>
        <a:buNone/>
        <a:defRPr sz="26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259" indent="-2057259" algn="l" defTabSz="2743013" rtl="0" eaLnBrk="1" latinLnBrk="0" hangingPunct="1">
        <a:spcBef>
          <a:spcPct val="20000"/>
        </a:spcBef>
        <a:buFont typeface="Arial"/>
        <a:buChar char="•"/>
        <a:defRPr sz="19200" kern="1200">
          <a:solidFill>
            <a:schemeClr val="tx1"/>
          </a:solidFill>
          <a:latin typeface="+mn-lt"/>
          <a:ea typeface="+mn-ea"/>
          <a:cs typeface="+mn-cs"/>
        </a:defRPr>
      </a:lvl1pPr>
      <a:lvl2pPr marL="4457395" indent="-1714383" algn="l" defTabSz="2743013" rtl="0" eaLnBrk="1" latinLnBrk="0" hangingPunct="1">
        <a:spcBef>
          <a:spcPct val="20000"/>
        </a:spcBef>
        <a:buFont typeface="Arial"/>
        <a:buChar char="–"/>
        <a:defRPr sz="16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531" indent="-1371506" algn="l" defTabSz="2743013" rtl="0" eaLnBrk="1" latinLnBrk="0" hangingPunct="1">
        <a:spcBef>
          <a:spcPct val="20000"/>
        </a:spcBef>
        <a:buFont typeface="Arial"/>
        <a:buChar char="•"/>
        <a:defRPr sz="14300" kern="1200">
          <a:solidFill>
            <a:schemeClr val="tx1"/>
          </a:solidFill>
          <a:latin typeface="+mn-lt"/>
          <a:ea typeface="+mn-ea"/>
          <a:cs typeface="+mn-cs"/>
        </a:defRPr>
      </a:lvl3pPr>
      <a:lvl4pPr marL="9600545" indent="-1371506" algn="l" defTabSz="2743013" rtl="0" eaLnBrk="1" latinLnBrk="0" hangingPunct="1">
        <a:spcBef>
          <a:spcPct val="20000"/>
        </a:spcBef>
        <a:buFont typeface="Arial"/>
        <a:buChar char="–"/>
        <a:defRPr sz="1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3558" indent="-1371506" algn="l" defTabSz="2743013" rtl="0" eaLnBrk="1" latinLnBrk="0" hangingPunct="1">
        <a:spcBef>
          <a:spcPct val="20000"/>
        </a:spcBef>
        <a:buFont typeface="Arial"/>
        <a:buChar char="»"/>
        <a:defRPr sz="1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6570" indent="-1371506" algn="l" defTabSz="2743013" rtl="0" eaLnBrk="1" latinLnBrk="0" hangingPunct="1">
        <a:spcBef>
          <a:spcPct val="20000"/>
        </a:spcBef>
        <a:buFont typeface="Arial"/>
        <a:buChar char="•"/>
        <a:defRPr sz="1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829583" indent="-1371506" algn="l" defTabSz="2743013" rtl="0" eaLnBrk="1" latinLnBrk="0" hangingPunct="1">
        <a:spcBef>
          <a:spcPct val="20000"/>
        </a:spcBef>
        <a:buFont typeface="Arial"/>
        <a:buChar char="•"/>
        <a:defRPr sz="120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2596" indent="-1371506" algn="l" defTabSz="2743013" rtl="0" eaLnBrk="1" latinLnBrk="0" hangingPunct="1">
        <a:spcBef>
          <a:spcPct val="20000"/>
        </a:spcBef>
        <a:buFont typeface="Arial"/>
        <a:buChar char="•"/>
        <a:defRPr sz="120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5608" indent="-1371506" algn="l" defTabSz="2743013" rtl="0" eaLnBrk="1" latinLnBrk="0" hangingPunct="1">
        <a:spcBef>
          <a:spcPct val="20000"/>
        </a:spcBef>
        <a:buFont typeface="Arial"/>
        <a:buChar char="•"/>
        <a:defRPr sz="1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013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025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038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051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5064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6pPr>
      <a:lvl7pPr marL="16458077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1089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8pPr>
      <a:lvl9pPr marL="21944102" algn="l" defTabSz="2743013" rtl="0" eaLnBrk="1" latinLnBrk="0" hangingPunct="1">
        <a:defRPr sz="10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mailto:ahu314@gatech.edu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jp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hyperlink" Target="https://www.youtube.com/watch?v=9yi2FajlUMk" TargetMode="Externa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9yi2FajlUM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51321" y="909782"/>
            <a:ext cx="29403399" cy="3554813"/>
          </a:xfrm>
          <a:prstGeom prst="rect">
            <a:avLst/>
          </a:prstGeom>
          <a:noFill/>
          <a:ln w="76200">
            <a:noFill/>
          </a:ln>
        </p:spPr>
        <p:txBody>
          <a:bodyPr wrap="square" lIns="106674" tIns="53337" rIns="106674" bIns="53337" rtlCol="0">
            <a:spAutoFit/>
          </a:bodyPr>
          <a:lstStyle/>
          <a:p>
            <a:pPr algn="ctr"/>
            <a:r>
              <a:rPr lang="en-US" sz="8800" dirty="0">
                <a:solidFill>
                  <a:srgbClr val="003371"/>
                </a:solidFill>
              </a:rPr>
              <a:t>Evolutionary Recurrent Decision Model: Emergence of Behaviors from Evolutionary Recurrent Processes</a:t>
            </a:r>
          </a:p>
          <a:p>
            <a:pPr algn="ctr"/>
            <a:r>
              <a:rPr lang="en-US" sz="4800" dirty="0">
                <a:solidFill>
                  <a:srgbClr val="003371"/>
                </a:solidFill>
              </a:rPr>
              <a:t>Andrew Hu (</a:t>
            </a:r>
            <a:r>
              <a:rPr lang="en-US" sz="4800" dirty="0">
                <a:solidFill>
                  <a:srgbClr val="003371"/>
                </a:solidFill>
                <a:hlinkClick r:id="rId3"/>
              </a:rPr>
              <a:t>ahu314@gatech.edu</a:t>
            </a:r>
            <a:r>
              <a:rPr lang="en-US" sz="4800" dirty="0">
                <a:solidFill>
                  <a:srgbClr val="003371"/>
                </a:solidFill>
              </a:rPr>
              <a:t>) Video Link: </a:t>
            </a:r>
            <a:r>
              <a:rPr lang="en-US" sz="4800" dirty="0">
                <a:hlinkClick r:id="rId4"/>
              </a:rPr>
              <a:t>https://www.youtube.com/watch?v=9yi2FajlUMk</a:t>
            </a:r>
            <a:endParaRPr lang="en-US" sz="4800" dirty="0">
              <a:solidFill>
                <a:srgbClr val="003371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0697" y="4755681"/>
            <a:ext cx="11887200" cy="1031045"/>
          </a:xfrm>
          <a:prstGeom prst="rect">
            <a:avLst/>
          </a:prstGeom>
          <a:solidFill>
            <a:srgbClr val="850000"/>
          </a:solidFill>
        </p:spPr>
        <p:txBody>
          <a:bodyPr wrap="square" lIns="106674" tIns="53337" rIns="106674" bIns="53337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697" y="14297437"/>
            <a:ext cx="11887200" cy="1031045"/>
          </a:xfrm>
          <a:prstGeom prst="rect">
            <a:avLst/>
          </a:prstGeom>
          <a:solidFill>
            <a:srgbClr val="850000"/>
          </a:solidFill>
        </p:spPr>
        <p:txBody>
          <a:bodyPr wrap="square" lIns="106674" tIns="53337" rIns="106674" bIns="53337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Methods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074752" y="6362643"/>
            <a:ext cx="11887200" cy="1031045"/>
          </a:xfrm>
          <a:prstGeom prst="rect">
            <a:avLst/>
          </a:prstGeom>
          <a:solidFill>
            <a:srgbClr val="850000"/>
          </a:solidFill>
        </p:spPr>
        <p:txBody>
          <a:bodyPr wrap="square" lIns="106674" tIns="53337" rIns="106674" bIns="53337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Results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239328" y="8566694"/>
            <a:ext cx="12177482" cy="1031045"/>
          </a:xfrm>
          <a:prstGeom prst="rect">
            <a:avLst/>
          </a:prstGeom>
          <a:solidFill>
            <a:srgbClr val="850000"/>
          </a:solidFill>
        </p:spPr>
        <p:txBody>
          <a:bodyPr wrap="square" lIns="106674" tIns="53337" rIns="106674" bIns="53337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Conclusions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697" y="5905558"/>
            <a:ext cx="11887200" cy="3129312"/>
          </a:xfrm>
          <a:prstGeom prst="rect">
            <a:avLst/>
          </a:prstGeom>
          <a:noFill/>
        </p:spPr>
        <p:txBody>
          <a:bodyPr wrap="square" lIns="106674" tIns="53337" rIns="106674" bIns="53337" rtlCol="0">
            <a:spAutoFit/>
          </a:bodyPr>
          <a:lstStyle/>
          <a:p>
            <a:pPr marL="533370" indent="-533370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Modern mental health disorders like depression, anxiety, and PTSD are rising despite medical and psychological advances.</a:t>
            </a:r>
          </a:p>
          <a:p>
            <a:pPr marL="533370" indent="-533370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The brain evolved ~200,000 years ago, but cultural and technological evolution transformed environments much more rapidly [1]</a:t>
            </a:r>
          </a:p>
          <a:p>
            <a:pPr marL="533370" indent="-533370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Can a reinforcement learning agent trained on evolutionarily grounded constraints and rewards create adaptive and maladaptive patterns?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98807" y="9604805"/>
            <a:ext cx="11887200" cy="5647694"/>
          </a:xfrm>
          <a:prstGeom prst="rect">
            <a:avLst/>
          </a:prstGeom>
          <a:noFill/>
        </p:spPr>
        <p:txBody>
          <a:bodyPr wrap="square" lIns="106674" tIns="53337" rIns="106674" bIns="53337" rtlCol="0">
            <a:spAutoFit/>
          </a:bodyPr>
          <a:lstStyle/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Bounded rationality and satisficing from mismatched environments can lead to behavioral regimes [3].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Mechanistic reasoning for why the same adverse conditions produce different outcomes (resilience and vulnerability) with ecological validity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For DB-dominant profiles, a healthy relationship is more protective than help-seeking vulnerability [6]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ERDM offers an ethical computational, unifying framework for studying behaviors difficult to experiment with evolutionarily reasonings [2]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Future directions: perceptual distortion, multi-agent simulations, broader environmental conditions and actions</a:t>
            </a:r>
          </a:p>
          <a:p>
            <a:endParaRPr lang="en-US" sz="3000" dirty="0">
              <a:solidFill>
                <a:srgbClr val="00337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074755" y="4727187"/>
            <a:ext cx="11887200" cy="1605818"/>
          </a:xfrm>
          <a:prstGeom prst="rect">
            <a:avLst/>
          </a:prstGeom>
          <a:noFill/>
          <a:ln w="88900">
            <a:noFill/>
          </a:ln>
          <a:effectLst/>
        </p:spPr>
        <p:txBody>
          <a:bodyPr wrap="square" lIns="106674" tIns="53337" rIns="106674" bIns="53337" rtlCol="0">
            <a:spAutoFit/>
          </a:bodyPr>
          <a:lstStyle/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DB-dominant and NB-dominant agents trained on increasing adversity conditions [4]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200 independent runs per conditions, 1500 training steps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5C0E4BB-1205-9A2B-10C5-409DE80604AF}"/>
              </a:ext>
            </a:extLst>
          </p:cNvPr>
          <p:cNvSpPr txBox="1"/>
          <p:nvPr/>
        </p:nvSpPr>
        <p:spPr>
          <a:xfrm>
            <a:off x="615189" y="13385026"/>
            <a:ext cx="125502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/>
              <a:t>Figure 1</a:t>
            </a:r>
            <a:r>
              <a:rPr lang="en-US" sz="2500" dirty="0"/>
              <a:t>. Bounded rationality and satisficing from mismatched environments to create behavioral regimes [3].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079CA8C-2FFE-CB70-AB99-7040854C6398}"/>
              </a:ext>
            </a:extLst>
          </p:cNvPr>
          <p:cNvSpPr txBox="1"/>
          <p:nvPr/>
        </p:nvSpPr>
        <p:spPr>
          <a:xfrm>
            <a:off x="25239328" y="14744042"/>
            <a:ext cx="12177482" cy="1031045"/>
          </a:xfrm>
          <a:prstGeom prst="rect">
            <a:avLst/>
          </a:prstGeom>
          <a:solidFill>
            <a:srgbClr val="850000"/>
          </a:solidFill>
        </p:spPr>
        <p:txBody>
          <a:bodyPr wrap="square" lIns="106674" tIns="53337" rIns="106674" bIns="53337" rtlCol="0">
            <a:spAutoFit/>
          </a:bodyPr>
          <a:lstStyle/>
          <a:p>
            <a:pPr algn="ctr"/>
            <a:r>
              <a:rPr lang="en-US" sz="6000" dirty="0">
                <a:solidFill>
                  <a:schemeClr val="bg1"/>
                </a:solidFill>
              </a:rPr>
              <a:t>Citations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FB36115-2E64-C630-6340-C01BA9E7682C}"/>
              </a:ext>
            </a:extLst>
          </p:cNvPr>
          <p:cNvSpPr txBox="1"/>
          <p:nvPr/>
        </p:nvSpPr>
        <p:spPr>
          <a:xfrm>
            <a:off x="25239328" y="15756658"/>
            <a:ext cx="12400429" cy="3431703"/>
          </a:xfrm>
          <a:prstGeom prst="rect">
            <a:avLst/>
          </a:prstGeom>
          <a:noFill/>
        </p:spPr>
        <p:txBody>
          <a:bodyPr wrap="square" lIns="106674" tIns="53337" rIns="106674" bIns="53337" rtlCol="0">
            <a:spAutoFit/>
          </a:bodyPr>
          <a:lstStyle/>
          <a:p>
            <a:pPr lvl="0"/>
            <a:r>
              <a:rPr lang="en-US" sz="1800" dirty="0"/>
              <a:t>1. Bender, A. (2019). The role of culture and evolution for human cognition. </a:t>
            </a:r>
            <a:r>
              <a:rPr lang="en-US" sz="1800" i="1" dirty="0"/>
              <a:t>Topics in Cognitive Science</a:t>
            </a:r>
            <a:r>
              <a:rPr lang="en-US" sz="1800" dirty="0"/>
              <a:t>, </a:t>
            </a:r>
            <a:r>
              <a:rPr lang="en-US" sz="1800" i="1" dirty="0"/>
              <a:t>12</a:t>
            </a:r>
            <a:r>
              <a:rPr lang="en-US" sz="1800" dirty="0"/>
              <a:t>(4), 1403–1420. 2. https://doi.org/10.1111/tops.12449 </a:t>
            </a:r>
          </a:p>
          <a:p>
            <a:pPr lvl="0"/>
            <a:r>
              <a:rPr lang="en-US" sz="1800" dirty="0"/>
              <a:t>2. Bentley, P. J., &amp; Lim, S. L. (2022). From evolutionary ecosystem simulations to computational models of human behavior. </a:t>
            </a:r>
            <a:r>
              <a:rPr lang="en-US" sz="1800" i="1" dirty="0"/>
              <a:t>WIREs Cognitive Science</a:t>
            </a:r>
            <a:r>
              <a:rPr lang="en-US" sz="1800" dirty="0"/>
              <a:t>, </a:t>
            </a:r>
            <a:r>
              <a:rPr lang="en-US" sz="1800" i="1" dirty="0"/>
              <a:t>13</a:t>
            </a:r>
            <a:r>
              <a:rPr lang="en-US" sz="1800" dirty="0"/>
              <a:t>(6). https://doi.org/10.1002/wcs.1622 </a:t>
            </a:r>
          </a:p>
          <a:p>
            <a:pPr lvl="0"/>
            <a:r>
              <a:rPr lang="en-US" sz="1800" dirty="0"/>
              <a:t>3. Brenner, S. L., Jones, J. P., </a:t>
            </a:r>
            <a:r>
              <a:rPr lang="en-US" sz="1800" dirty="0" err="1"/>
              <a:t>Rutanen</a:t>
            </a:r>
            <a:r>
              <a:rPr lang="en-US" sz="1800" dirty="0"/>
              <a:t>-Whaley, R. H., Parker, W., Flinn, M. V., &amp; </a:t>
            </a:r>
            <a:r>
              <a:rPr lang="en-US" sz="1800" dirty="0" err="1"/>
              <a:t>Muehlenbein</a:t>
            </a:r>
            <a:r>
              <a:rPr lang="en-US" sz="1800" dirty="0"/>
              <a:t>, M. P. (2015). Evolutionary mismatch and chronic psychological stress. </a:t>
            </a:r>
            <a:r>
              <a:rPr lang="en-US" sz="1800" i="1" dirty="0"/>
              <a:t>Journal of Evolutionary Medicine</a:t>
            </a:r>
            <a:r>
              <a:rPr lang="en-US" sz="1800" dirty="0"/>
              <a:t>, </a:t>
            </a:r>
            <a:r>
              <a:rPr lang="en-US" sz="1800" i="1" dirty="0"/>
              <a:t>3</a:t>
            </a:r>
            <a:r>
              <a:rPr lang="en-US" sz="1800" dirty="0"/>
              <a:t>, 1–11. https://doi.org/10.4303/jem/235885 </a:t>
            </a:r>
          </a:p>
          <a:p>
            <a:pPr lvl="0"/>
            <a:r>
              <a:rPr lang="en-US" sz="1800" dirty="0"/>
              <a:t>4. Jiménez, Á. V., &amp; </a:t>
            </a:r>
            <a:r>
              <a:rPr lang="en-US" sz="1800" dirty="0" err="1"/>
              <a:t>Mesoudi</a:t>
            </a:r>
            <a:r>
              <a:rPr lang="en-US" sz="1800" dirty="0"/>
              <a:t>, A. (2019). </a:t>
            </a:r>
            <a:r>
              <a:rPr lang="en-US" sz="1800" i="1" dirty="0"/>
              <a:t>Prestige and Dominance: A Review of the Dual Evolutionary Model of Social Hierarchy</a:t>
            </a:r>
            <a:r>
              <a:rPr lang="en-US" sz="1800" dirty="0"/>
              <a:t>. https://doi.org/10.31234/osf.io/sh7mg </a:t>
            </a:r>
          </a:p>
          <a:p>
            <a:pPr lvl="0"/>
            <a:r>
              <a:rPr lang="en-US" sz="1800" dirty="0"/>
              <a:t>5. Rojas, M., Méndez, A., &amp; Watkins-Fassler, K. (2023). The hierarchy of needs empirical examination of Maslow’s theory and lessons for development. </a:t>
            </a:r>
            <a:r>
              <a:rPr lang="en-US" sz="1800" i="1" dirty="0"/>
              <a:t>World Development</a:t>
            </a:r>
            <a:r>
              <a:rPr lang="en-US" sz="1800" dirty="0"/>
              <a:t>, </a:t>
            </a:r>
            <a:r>
              <a:rPr lang="en-US" sz="1800" i="1" dirty="0"/>
              <a:t>165</a:t>
            </a:r>
            <a:r>
              <a:rPr lang="en-US" sz="1800" dirty="0"/>
              <a:t>, 106185. https://doi.org/10.1016/j.worlddev.2023.106185 </a:t>
            </a:r>
          </a:p>
          <a:p>
            <a:pPr lvl="0"/>
            <a:r>
              <a:rPr lang="en-US" sz="1800" dirty="0"/>
              <a:t>6. Sölva, K., </a:t>
            </a:r>
            <a:r>
              <a:rPr lang="en-US" sz="1800" dirty="0" err="1"/>
              <a:t>Haselgruber</a:t>
            </a:r>
            <a:r>
              <a:rPr lang="en-US" sz="1800" dirty="0"/>
              <a:t>, A., &amp; Lueger-Schuster, B. (2023). Resilience in the face of adversity: Classes of positive adaptation in trauma-exposed children and adolescents in residential care. </a:t>
            </a:r>
            <a:r>
              <a:rPr lang="en-US" sz="1800" i="1" dirty="0"/>
              <a:t>BMC Psychology</a:t>
            </a:r>
            <a:r>
              <a:rPr lang="en-US" sz="1800" dirty="0"/>
              <a:t>, </a:t>
            </a:r>
            <a:r>
              <a:rPr lang="en-US" sz="1800" i="1" dirty="0"/>
              <a:t>11</a:t>
            </a:r>
            <a:r>
              <a:rPr lang="en-US" sz="1800" dirty="0"/>
              <a:t>(1). https://doi.org/10.1186/s40359-023-01049-x 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7A08750-9EA8-5C43-F37B-C1AED84F2F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697" y="613574"/>
            <a:ext cx="3851021" cy="38510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F28054C-CA04-D444-BD1A-3B0A1F80010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68" t="17116" r="6832" b="14898"/>
          <a:stretch>
            <a:fillRect/>
          </a:stretch>
        </p:blipFill>
        <p:spPr>
          <a:xfrm>
            <a:off x="2035957" y="8938495"/>
            <a:ext cx="9708747" cy="450435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A611037-D683-ED8F-A851-2E15DACA163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88"/>
          <a:stretch>
            <a:fillRect/>
          </a:stretch>
        </p:blipFill>
        <p:spPr bwMode="auto">
          <a:xfrm>
            <a:off x="14411085" y="7423326"/>
            <a:ext cx="9683870" cy="4504351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395937-CA3A-0F04-0B95-55FAC41161B1}"/>
              </a:ext>
            </a:extLst>
          </p:cNvPr>
          <p:cNvSpPr txBox="1"/>
          <p:nvPr/>
        </p:nvSpPr>
        <p:spPr>
          <a:xfrm>
            <a:off x="946730" y="15503920"/>
            <a:ext cx="11887200" cy="4144975"/>
          </a:xfrm>
          <a:prstGeom prst="rect">
            <a:avLst/>
          </a:prstGeom>
          <a:noFill/>
          <a:ln w="88900">
            <a:noFill/>
          </a:ln>
          <a:effectLst/>
        </p:spPr>
        <p:txBody>
          <a:bodyPr wrap="square" lIns="106674" tIns="53337" rIns="106674" bIns="53337" rtlCol="0">
            <a:spAutoFit/>
          </a:bodyPr>
          <a:lstStyle/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ERDM is a single-agent reinforcement learning framework operating across three evolutionarily recurrent environments: threat, prey/goal-pursuit, and alliance opportunities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Uses multiple independent value networks rather than a single scalar reward to reflect competing objectives 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r>
              <a:rPr lang="en-US" sz="3000" dirty="0">
                <a:solidFill>
                  <a:srgbClr val="003371"/>
                </a:solidFill>
              </a:rPr>
              <a:t>Three multi-objective rewards: Livelihood (L), Defensive Belonging (DB), Nurturing Belonging (NB) [4, 5]</a:t>
            </a:r>
          </a:p>
          <a:p>
            <a:pPr marL="479663" indent="-479663">
              <a:lnSpc>
                <a:spcPct val="110000"/>
              </a:lnSpc>
              <a:buFont typeface="Wingdings" pitchFamily="-65" charset="2"/>
              <a:buChar char="§"/>
            </a:pPr>
            <a:endParaRPr lang="en-US" sz="3000" dirty="0">
              <a:solidFill>
                <a:srgbClr val="00337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B31F73-4549-93F6-B474-B555095830F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1"/>
          <a:stretch>
            <a:fillRect/>
          </a:stretch>
        </p:blipFill>
        <p:spPr bwMode="auto">
          <a:xfrm>
            <a:off x="14223886" y="11808713"/>
            <a:ext cx="9957028" cy="399271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8C0151-3B09-6FEE-7A65-666B826492E7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3"/>
          <a:stretch>
            <a:fillRect/>
          </a:stretch>
        </p:blipFill>
        <p:spPr bwMode="auto">
          <a:xfrm>
            <a:off x="14967788" y="15791306"/>
            <a:ext cx="8469223" cy="336240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DC0C9DA-FC4E-12AF-C954-D107DB76455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19"/>
          <a:stretch>
            <a:fillRect/>
          </a:stretch>
        </p:blipFill>
        <p:spPr bwMode="auto">
          <a:xfrm>
            <a:off x="25298807" y="4727187"/>
            <a:ext cx="4881450" cy="3618587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B5B2F2-626D-5205-1708-8FD5A3C30876}"/>
              </a:ext>
            </a:extLst>
          </p:cNvPr>
          <p:cNvPicPr>
            <a:picLocks noChangeAspect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1"/>
          <a:stretch>
            <a:fillRect/>
          </a:stretch>
        </p:blipFill>
        <p:spPr bwMode="auto">
          <a:xfrm>
            <a:off x="30436223" y="4755681"/>
            <a:ext cx="7036994" cy="3620229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1CE4C57-E2A5-C34B-4D4C-3A81D69345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9682336"/>
              </p:ext>
            </p:extLst>
          </p:nvPr>
        </p:nvGraphicFramePr>
        <p:xfrm>
          <a:off x="0" y="0"/>
          <a:ext cx="10961494" cy="192024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62717">
                  <a:extLst>
                    <a:ext uri="{9D8B030D-6E8A-4147-A177-3AD203B41FA5}">
                      <a16:colId xmlns:a16="http://schemas.microsoft.com/office/drawing/2014/main" val="65604719"/>
                    </a:ext>
                  </a:extLst>
                </a:gridCol>
                <a:gridCol w="738637">
                  <a:extLst>
                    <a:ext uri="{9D8B030D-6E8A-4147-A177-3AD203B41FA5}">
                      <a16:colId xmlns:a16="http://schemas.microsoft.com/office/drawing/2014/main" val="91898864"/>
                    </a:ext>
                  </a:extLst>
                </a:gridCol>
                <a:gridCol w="2404221">
                  <a:extLst>
                    <a:ext uri="{9D8B030D-6E8A-4147-A177-3AD203B41FA5}">
                      <a16:colId xmlns:a16="http://schemas.microsoft.com/office/drawing/2014/main" val="203314547"/>
                    </a:ext>
                  </a:extLst>
                </a:gridCol>
                <a:gridCol w="1268529">
                  <a:extLst>
                    <a:ext uri="{9D8B030D-6E8A-4147-A177-3AD203B41FA5}">
                      <a16:colId xmlns:a16="http://schemas.microsoft.com/office/drawing/2014/main" val="3759884829"/>
                    </a:ext>
                  </a:extLst>
                </a:gridCol>
                <a:gridCol w="1237875">
                  <a:extLst>
                    <a:ext uri="{9D8B030D-6E8A-4147-A177-3AD203B41FA5}">
                      <a16:colId xmlns:a16="http://schemas.microsoft.com/office/drawing/2014/main" val="3307369549"/>
                    </a:ext>
                  </a:extLst>
                </a:gridCol>
                <a:gridCol w="4449515">
                  <a:extLst>
                    <a:ext uri="{9D8B030D-6E8A-4147-A177-3AD203B41FA5}">
                      <a16:colId xmlns:a16="http://schemas.microsoft.com/office/drawing/2014/main" val="1196305333"/>
                    </a:ext>
                  </a:extLst>
                </a:gridCol>
              </a:tblGrid>
              <a:tr h="769454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Week #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Task #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Task Description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Estimated Time (Hours)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Complete (Y/N)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</a:rPr>
                        <a:t>Completed Hours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35674" marR="135674" marT="67837" marB="67837" anchor="b"/>
                </a:tc>
                <a:extLst>
                  <a:ext uri="{0D108BD9-81ED-4DB2-BD59-A6C34878D82A}">
                    <a16:rowId xmlns:a16="http://schemas.microsoft.com/office/drawing/2014/main" val="2929169601"/>
                  </a:ext>
                </a:extLst>
              </a:tr>
              <a:tr h="752480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 dirty="0">
                          <a:effectLst/>
                        </a:rPr>
                        <a:t>Create the template task list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0.25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0.25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3422543731"/>
                  </a:ext>
                </a:extLst>
              </a:tr>
              <a:tr h="752480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Choose research question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0.25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0.25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4081590091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Literature review: evolutionary psychology sources batch 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2643767261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Literature review: neuroscience sources batch 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150833015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Literature review: CRUM + integrated theories batch 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3213489300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Literature review: synthesis and notes consolidation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1580248570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Study James-Lange theory of emotions and core models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770097402"/>
                  </a:ext>
                </a:extLst>
              </a:tr>
              <a:tr h="1025939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Study Maslow hierarchy and adaptive/maladaptive behavior theory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4226682611"/>
                  </a:ext>
                </a:extLst>
              </a:tr>
              <a:tr h="512969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Refine research questions (iteration 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963961056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Refine research scope and hypotheses (finalization)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 dirty="0">
                          <a:effectLst/>
                        </a:rPr>
                        <a:t>2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2347507516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ERDM architecture (core system design)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1243442021"/>
                  </a:ext>
                </a:extLst>
              </a:tr>
              <a:tr h="1025939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ERDM architecture (component relationships)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2844879002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ERDM architecture (formal specification)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2938984748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14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evaluative dimensions (reward structure design)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2488653951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evaluative dimensions (final tuning + validation logic)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2612523952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discrete actions and behavioral mapping (core set)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501752175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Define discrete actions and behavioral mapping (complex patterns)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3425297311"/>
                  </a:ext>
                </a:extLst>
              </a:tr>
              <a:tr h="1025939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18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Design emotional representation (physiology + CRUM integration part 1)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3106705149"/>
                  </a:ext>
                </a:extLst>
              </a:tr>
              <a:tr h="1025939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19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Design emotional representation (CRUM mapping + structure part 2)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3325546863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6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20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Design emotional representation (final integration + validation)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1.5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1.5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1907743078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21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Build Python simulation framework (core structure)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545482072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22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Build Python simulation framework (architecture wiring)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2.5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2.5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3412659663"/>
                  </a:ext>
                </a:extLst>
              </a:tr>
              <a:tr h="769454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7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23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Build Python simulation framework (base environment setup)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>
                          <a:effectLst/>
                        </a:rPr>
                        <a:t>2.5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600">
                          <a:effectLst/>
                        </a:rPr>
                        <a:t>Y</a:t>
                      </a:r>
                      <a:endParaRPr lang="en-US" sz="16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600" dirty="0">
                          <a:effectLst/>
                        </a:rPr>
                        <a:t>2.5</a:t>
                      </a:r>
                      <a:endParaRPr lang="en-US" sz="16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42518" marR="142518" marT="0" marB="0" anchor="b"/>
                </a:tc>
                <a:extLst>
                  <a:ext uri="{0D108BD9-81ED-4DB2-BD59-A6C34878D82A}">
                    <a16:rowId xmlns:a16="http://schemas.microsoft.com/office/drawing/2014/main" val="17107241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37476D0-05C5-06EB-1A53-43CFDB983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787347"/>
              </p:ext>
            </p:extLst>
          </p:nvPr>
        </p:nvGraphicFramePr>
        <p:xfrm>
          <a:off x="12161644" y="0"/>
          <a:ext cx="5504222" cy="190736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82685">
                  <a:extLst>
                    <a:ext uri="{9D8B030D-6E8A-4147-A177-3AD203B41FA5}">
                      <a16:colId xmlns:a16="http://schemas.microsoft.com/office/drawing/2014/main" val="4039930534"/>
                    </a:ext>
                  </a:extLst>
                </a:gridCol>
                <a:gridCol w="584499">
                  <a:extLst>
                    <a:ext uri="{9D8B030D-6E8A-4147-A177-3AD203B41FA5}">
                      <a16:colId xmlns:a16="http://schemas.microsoft.com/office/drawing/2014/main" val="3933758781"/>
                    </a:ext>
                  </a:extLst>
                </a:gridCol>
                <a:gridCol w="1902508">
                  <a:extLst>
                    <a:ext uri="{9D8B030D-6E8A-4147-A177-3AD203B41FA5}">
                      <a16:colId xmlns:a16="http://schemas.microsoft.com/office/drawing/2014/main" val="1462479988"/>
                    </a:ext>
                  </a:extLst>
                </a:gridCol>
                <a:gridCol w="1003813">
                  <a:extLst>
                    <a:ext uri="{9D8B030D-6E8A-4147-A177-3AD203B41FA5}">
                      <a16:colId xmlns:a16="http://schemas.microsoft.com/office/drawing/2014/main" val="3938989284"/>
                    </a:ext>
                  </a:extLst>
                </a:gridCol>
                <a:gridCol w="979556">
                  <a:extLst>
                    <a:ext uri="{9D8B030D-6E8A-4147-A177-3AD203B41FA5}">
                      <a16:colId xmlns:a16="http://schemas.microsoft.com/office/drawing/2014/main" val="442164997"/>
                    </a:ext>
                  </a:extLst>
                </a:gridCol>
                <a:gridCol w="351161">
                  <a:extLst>
                    <a:ext uri="{9D8B030D-6E8A-4147-A177-3AD203B41FA5}">
                      <a16:colId xmlns:a16="http://schemas.microsoft.com/office/drawing/2014/main" val="326524077"/>
                    </a:ext>
                  </a:extLst>
                </a:gridCol>
              </a:tblGrid>
              <a:tr h="887145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Implement agent decision-making (policy biasing system)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939229432"/>
                  </a:ext>
                </a:extLst>
              </a:tr>
              <a:tr h="887145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Implement agent decision-making (value update mechanisms)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87418059"/>
                  </a:ext>
                </a:extLst>
              </a:tr>
              <a:tr h="887145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Implement environmental simulations (core dynamics)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562557001"/>
                  </a:ext>
                </a:extLst>
              </a:tr>
              <a:tr h="887145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Implement environmental simulations (scenario variation system)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072857688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Add visualization system (behavior tracking graphs)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568571153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Add visualization system (performance analytics dashboard)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951599870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Integration setup + debugging preparation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861237024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Run simulation: ACE condition experiments batch 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532200965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 dirty="0">
                          <a:effectLst/>
                        </a:rPr>
                        <a:t>Run simulation: no-ACE condition experiments batch 2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773544029"/>
                  </a:ext>
                </a:extLst>
              </a:tr>
              <a:tr h="887145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Analyze outcomes and emergent behavioral patterns (phase 1)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027902113"/>
                  </a:ext>
                </a:extLst>
              </a:tr>
              <a:tr h="887145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Analyze outcomes and emergent behavioral patterns (phase 2)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604736228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Evaluate emotional representations under conditions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4062610817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Extend CRUM mapping based on results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2430872940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Draft report sections (introduction + background)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275215836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Draft report sections (methods + model design)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557905542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Revise report (results + analysis integration)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 dirty="0">
                          <a:effectLst/>
                        </a:rPr>
                        <a:t>4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496162138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Revise report (discussion + interpretation)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Y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953758212"/>
                  </a:ext>
                </a:extLst>
              </a:tr>
              <a:tr h="443572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Prepare presentation slides (core deck)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2611522189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Prepare presentation slides (final refinement)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056567382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Proofreading checklist and citation verification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975383966"/>
                  </a:ext>
                </a:extLst>
              </a:tr>
              <a:tr h="443572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Final formatting for submission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001059880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45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contingency research / adjustments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445279117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46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simulation debugging support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718742336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12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47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visualization refinement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1953387327"/>
                  </a:ext>
                </a:extLst>
              </a:tr>
              <a:tr h="443572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48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report polishing support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2759253"/>
                  </a:ext>
                </a:extLst>
              </a:tr>
              <a:tr h="443572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13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49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figure improvements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353136423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50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presentation rehearsal support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3228751708"/>
                  </a:ext>
                </a:extLst>
              </a:tr>
              <a:tr h="665358"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14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51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Buffer task: final submission verification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>
                          <a:effectLst/>
                        </a:rPr>
                        <a:t>0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400">
                          <a:effectLst/>
                        </a:rPr>
                        <a:t>N</a:t>
                      </a:r>
                      <a:endParaRPr lang="en-US" sz="18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tc>
                  <a:txBody>
                    <a:bodyPr/>
                    <a:lstStyle/>
                    <a:p>
                      <a:pPr marL="0" marR="0" algn="r">
                        <a:buNone/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endParaRPr lang="en-US" sz="18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124754" marR="124754" marT="0" marB="0" anchor="b"/>
                </a:tc>
                <a:extLst>
                  <a:ext uri="{0D108BD9-81ED-4DB2-BD59-A6C34878D82A}">
                    <a16:rowId xmlns:a16="http://schemas.microsoft.com/office/drawing/2014/main" val="2080307425"/>
                  </a:ext>
                </a:extLst>
              </a:tr>
            </a:tbl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45BEA884-BA75-2774-29D0-C5AF2B61C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61889" y="1150770"/>
            <a:ext cx="6986261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(Total hours: 114. Completed hours: 117)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4800" dirty="0"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4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Youtube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Link: </a:t>
            </a:r>
            <a:r>
              <a:rPr lang="en-US" sz="4800" dirty="0">
                <a:hlinkClick r:id="rId2"/>
              </a:rPr>
              <a:t>ERDM Presentation</a:t>
            </a:r>
            <a:r>
              <a:rPr kumimoji="0" lang="en-US" altLang="en-US" sz="4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kumimoji="0" lang="en-US" altLang="en-US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4057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1766</TotalTime>
  <Words>1296</Words>
  <Application>Microsoft Office PowerPoint</Application>
  <PresentationFormat>Custom</PresentationFormat>
  <Paragraphs>344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</vt:vector>
  </TitlesOfParts>
  <Company>University of Pennsylvania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andrew hu</cp:lastModifiedBy>
  <cp:revision>38</cp:revision>
  <dcterms:created xsi:type="dcterms:W3CDTF">2010-06-04T15:09:15Z</dcterms:created>
  <dcterms:modified xsi:type="dcterms:W3CDTF">2026-04-20T06:07:37Z</dcterms:modified>
</cp:coreProperties>
</file>